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84" r:id="rId7"/>
    <p:sldId id="283" r:id="rId8"/>
    <p:sldId id="262" r:id="rId9"/>
    <p:sldId id="260" r:id="rId10"/>
    <p:sldId id="272" r:id="rId11"/>
    <p:sldId id="280" r:id="rId12"/>
    <p:sldId id="288" r:id="rId13"/>
    <p:sldId id="289" r:id="rId14"/>
    <p:sldId id="281" r:id="rId15"/>
    <p:sldId id="282" r:id="rId16"/>
    <p:sldId id="285" r:id="rId17"/>
    <p:sldId id="290" r:id="rId18"/>
    <p:sldId id="294" r:id="rId19"/>
    <p:sldId id="274" r:id="rId20"/>
    <p:sldId id="265" r:id="rId21"/>
    <p:sldId id="267" r:id="rId22"/>
    <p:sldId id="271" r:id="rId23"/>
    <p:sldId id="295" r:id="rId24"/>
    <p:sldId id="266" r:id="rId25"/>
    <p:sldId id="270" r:id="rId26"/>
    <p:sldId id="269" r:id="rId27"/>
    <p:sldId id="263" r:id="rId28"/>
    <p:sldId id="264" r:id="rId29"/>
    <p:sldId id="268" r:id="rId30"/>
    <p:sldId id="276" r:id="rId31"/>
    <p:sldId id="275" r:id="rId32"/>
    <p:sldId id="278" r:id="rId33"/>
    <p:sldId id="277" r:id="rId34"/>
    <p:sldId id="286" r:id="rId35"/>
    <p:sldId id="287" r:id="rId36"/>
    <p:sldId id="291" r:id="rId37"/>
    <p:sldId id="292" r:id="rId38"/>
    <p:sldId id="293" r:id="rId39"/>
    <p:sldId id="279" r:id="rId4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5CB13F-D012-786A-8B6E-54A980A43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745F470-8B69-4A90-DDCF-4E2DF5261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24A952-0EDC-E1E2-B6BA-6305F2F1D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41A70-67DE-4734-BE9D-53A0F678B3F4}" type="datetimeFigureOut">
              <a:rPr lang="ru-RU" smtClean="0"/>
              <a:t>18.03.2023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14A7CA-7F36-F031-74CB-817CE19E6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03C423-CF71-3794-C579-EDB3EF152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F60E-6DAF-46AD-99E7-3245B2288D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6408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BC4A4-464E-706C-F5B8-F5094D0FC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DE878F-654A-B9B4-694A-7484B23BE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B69A4D-8422-977E-F141-6B3175D7A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41A70-67DE-4734-BE9D-53A0F678B3F4}" type="datetimeFigureOut">
              <a:rPr lang="ru-RU" smtClean="0"/>
              <a:t>18.03.2023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948874-AB2D-08D7-79EF-4CB1E4BE8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ABE162-0479-5CE6-2DF6-25721A4AC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F60E-6DAF-46AD-99E7-3245B2288D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8846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641103-5D69-756B-F045-9E522AB20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B7C2E75-AE63-1005-0893-95067C9CE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AA2C13-4ACC-F925-4CBD-732E848B5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41A70-67DE-4734-BE9D-53A0F678B3F4}" type="datetimeFigureOut">
              <a:rPr lang="ru-RU" smtClean="0"/>
              <a:t>18.03.2023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634A93-0FF7-8308-AC9D-D826E84E7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B3117A-B771-595A-A92A-6FBDBC060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F60E-6DAF-46AD-99E7-3245B2288D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6602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042619-B84A-9044-21D7-1B9D91B3D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57D839-6EB9-B965-F929-E9206228FC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5A3CDE6-E9C5-1D53-02EA-D2BD463F8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5E77DB7-5514-8F0E-1372-05214761A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41A70-67DE-4734-BE9D-53A0F678B3F4}" type="datetimeFigureOut">
              <a:rPr lang="ru-RU" smtClean="0"/>
              <a:t>18.03.2023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DFCA78-D0EE-24A8-BD48-71FC39B02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E3F060-F024-7BAC-1E62-6261DBDF4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F60E-6DAF-46AD-99E7-3245B2288D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8850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8EF099-39D9-8491-CC62-0DF50EB93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E80A6B-E247-DFEB-E679-DDD995127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9C7057-F7FF-5D1C-A19C-66DA81D7D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7977315-CED7-C1F7-1D97-C1853F4D73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DD618F4-D84F-1B66-3816-17FEB623CD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43029FC-5C66-BBE4-5475-E1420A880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41A70-67DE-4734-BE9D-53A0F678B3F4}" type="datetimeFigureOut">
              <a:rPr lang="ru-RU" smtClean="0"/>
              <a:t>18.03.2023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E8A39FD-1011-CF78-BD0E-2EA772F08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52C1AD7-6B24-BF46-433D-2D516011F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F60E-6DAF-46AD-99E7-3245B2288D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5078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95B646-0CBA-D5A0-717D-5FD7267AE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8FAE8A5-8584-E12B-9342-8089FB67F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41A70-67DE-4734-BE9D-53A0F678B3F4}" type="datetimeFigureOut">
              <a:rPr lang="ru-RU" smtClean="0"/>
              <a:t>18.03.2023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3D026D9-37F2-EB82-DBD5-2357886A8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C414C10-57C9-CDA9-16EF-91701D81C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F60E-6DAF-46AD-99E7-3245B2288D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7025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93D9FBA-3BC8-294C-D472-C4A50E321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41A70-67DE-4734-BE9D-53A0F678B3F4}" type="datetimeFigureOut">
              <a:rPr lang="ru-RU" smtClean="0"/>
              <a:t>18.03.2023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BF38279-D4A5-57C9-D4DB-58BF82A27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7A9B751-7F04-E016-9025-479C899A2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F60E-6DAF-46AD-99E7-3245B2288D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8888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BBEE14-F0B6-14F4-F5A7-433174ECB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4106D4-DB6E-9A87-01CB-ACB5F4409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E38E73A-B425-1A67-3C50-4103C29DB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EA5D93-4717-1FCD-4BB5-E7CF9BB65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41A70-67DE-4734-BE9D-53A0F678B3F4}" type="datetimeFigureOut">
              <a:rPr lang="ru-RU" smtClean="0"/>
              <a:t>18.03.2023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D77379-96CD-3E95-C922-A68022715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BF5C34-D785-956E-D9F3-DD05FC352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F60E-6DAF-46AD-99E7-3245B2288D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1595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9623A-4C41-A6CC-7331-7988128C3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B2E52AD-17D6-95B6-02F9-6371E8A14C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B24D565-3663-0A47-9AD0-1A903A615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7E09D1E-415D-D060-0F0D-891D789A2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41A70-67DE-4734-BE9D-53A0F678B3F4}" type="datetimeFigureOut">
              <a:rPr lang="ru-RU" smtClean="0"/>
              <a:t>18.03.2023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8EEA067-8B12-8CD4-2247-69F68E435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F60C133-91C1-239A-D66B-526770DF0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F60E-6DAF-46AD-99E7-3245B2288D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9314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2C8856-D3BF-370F-4FFE-13B6DD1B7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72F013B-F217-B637-2173-15745CD0E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B367D9-B156-F7F7-9A13-A3178D075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41A70-67DE-4734-BE9D-53A0F678B3F4}" type="datetimeFigureOut">
              <a:rPr lang="ru-RU" smtClean="0"/>
              <a:t>18.03.2023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31A63D-CCBB-6466-519F-8F7280F08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85CE78-E781-9329-1280-66C932C51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F60E-6DAF-46AD-99E7-3245B2288D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0022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172BA4B-60B0-71FA-B5CA-9FAA2065C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46B72EE-71E6-399A-80D5-086E6BA4A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6FCCB0-A9CF-D9F8-F6F6-3FD23B31F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41A70-67DE-4734-BE9D-53A0F678B3F4}" type="datetimeFigureOut">
              <a:rPr lang="ru-RU" smtClean="0"/>
              <a:t>18.03.2023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C3B221-31FB-8B4C-6DE6-387BA013A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9D9C56-790C-F9A2-B95B-F7C824B56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F60E-6DAF-46AD-99E7-3245B2288D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2445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7D6D1B-2008-451A-3DA4-6A63E6C4D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EE84C2-CA9B-5434-8F7F-686282F3D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2A5A88-91D5-7CF1-EE9C-B94C19980B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41A70-67DE-4734-BE9D-53A0F678B3F4}" type="datetimeFigureOut">
              <a:rPr lang="ru-RU" smtClean="0"/>
              <a:t>18.03.2023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DC6600-E6DC-E610-43B3-14B6C95B9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4EF1DD-90B0-7016-302E-D8FA515E7A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2DF60E-6DAF-46AD-99E7-3245B2288D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2947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eb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ebp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gif"/><Relationship Id="rId4" Type="http://schemas.openxmlformats.org/officeDocument/2006/relationships/image" Target="../media/image36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804A441-45F9-6CC7-5A7A-7B8714754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672" y="2334233"/>
            <a:ext cx="4486901" cy="141942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447FF-38A6-8B81-3681-4369AB3BE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4302" y="197701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Что мы можем узнать про ролевые игры из</a:t>
            </a:r>
            <a:br>
              <a:rPr lang="ru-RU" b="1" dirty="0">
                <a:solidFill>
                  <a:schemeClr val="bg1"/>
                </a:solidFill>
              </a:rPr>
            </a:br>
            <a:br>
              <a:rPr lang="ru-RU" b="1" dirty="0">
                <a:solidFill>
                  <a:schemeClr val="bg1"/>
                </a:solidFill>
              </a:rPr>
            </a:br>
            <a:br>
              <a:rPr lang="en-US" b="1" dirty="0">
                <a:solidFill>
                  <a:schemeClr val="bg1"/>
                </a:solidFill>
              </a:rPr>
            </a:br>
            <a:r>
              <a:rPr lang="ru-RU" b="1" dirty="0">
                <a:solidFill>
                  <a:schemeClr val="bg1"/>
                </a:solidFill>
              </a:rPr>
              <a:t>и </a:t>
            </a:r>
            <a:r>
              <a:rPr lang="ru-RU" b="1" dirty="0" err="1">
                <a:solidFill>
                  <a:schemeClr val="bg1"/>
                </a:solidFill>
              </a:rPr>
              <a:t>КогдаИгры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C4529B-1A6C-0ADA-4052-BFDE78240DBC}"/>
              </a:ext>
            </a:extLst>
          </p:cNvPr>
          <p:cNvSpPr txBox="1"/>
          <p:nvPr/>
        </p:nvSpPr>
        <p:spPr>
          <a:xfrm>
            <a:off x="6805061" y="4754880"/>
            <a:ext cx="46964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</a:rPr>
              <a:t>#</a:t>
            </a:r>
            <a:r>
              <a:rPr lang="ru-RU" sz="2400" dirty="0" err="1">
                <a:solidFill>
                  <a:schemeClr val="bg1"/>
                </a:solidFill>
              </a:rPr>
              <a:t>Атана</a:t>
            </a:r>
            <a:r>
              <a:rPr lang="ru-RU" sz="2400" dirty="0">
                <a:solidFill>
                  <a:schemeClr val="bg1"/>
                </a:solidFill>
              </a:rPr>
              <a:t> (Александра Царева)</a:t>
            </a:r>
          </a:p>
          <a:p>
            <a:pPr algn="r"/>
            <a:r>
              <a:rPr lang="en-US" sz="2400" dirty="0" err="1">
                <a:solidFill>
                  <a:schemeClr val="bg1"/>
                </a:solidFill>
              </a:rPr>
              <a:t>a_tsareva</a:t>
            </a:r>
            <a:endParaRPr lang="en-US" sz="2400" dirty="0">
              <a:solidFill>
                <a:schemeClr val="bg1"/>
              </a:solidFill>
            </a:endParaRPr>
          </a:p>
          <a:p>
            <a:pPr algn="r"/>
            <a:r>
              <a:rPr lang="en-US" sz="2400" dirty="0" err="1">
                <a:solidFill>
                  <a:schemeClr val="bg1"/>
                </a:solidFill>
              </a:rPr>
              <a:t>atsareva</a:t>
            </a:r>
            <a:endParaRPr lang="en-US" sz="2400" dirty="0">
              <a:solidFill>
                <a:schemeClr val="bg1"/>
              </a:solidFill>
            </a:endParaRPr>
          </a:p>
          <a:p>
            <a:pPr algn="r"/>
            <a:r>
              <a:rPr lang="en-US" sz="2400" dirty="0">
                <a:solidFill>
                  <a:schemeClr val="bg1"/>
                </a:solidFill>
              </a:rPr>
              <a:t>atana@bastilia.ru</a:t>
            </a:r>
            <a:endParaRPr lang="ru-RU" sz="2400" dirty="0">
              <a:solidFill>
                <a:schemeClr val="bg1"/>
              </a:solidFill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03A2B1F-6BEA-E342-EC07-A20CD36CA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810" y="5602472"/>
            <a:ext cx="252000" cy="2520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DF302D06-B6B9-E8BB-2CA4-7A90A8224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6240" y="5266895"/>
            <a:ext cx="252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506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E36F34-FEC9-506A-EBCE-7FA1DA601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 лекторе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EEBC34-5446-773D-0C29-7BBA05B73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Социолог (социология коммуникаций / анализ соцсетей)</a:t>
            </a:r>
          </a:p>
          <a:p>
            <a:r>
              <a:rPr lang="ru-RU" dirty="0" err="1"/>
              <a:t>Датасайнтист</a:t>
            </a:r>
            <a:endParaRPr lang="ru-RU" dirty="0"/>
          </a:p>
          <a:p>
            <a:r>
              <a:rPr lang="ru-RU" dirty="0"/>
              <a:t>Жена </a:t>
            </a:r>
            <a:r>
              <a:rPr lang="ru-RU" dirty="0" err="1"/>
              <a:t>ЛеоЦарева</a:t>
            </a:r>
            <a:endParaRPr lang="ru-RU" dirty="0"/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* * *</a:t>
            </a:r>
          </a:p>
          <a:p>
            <a:pPr marL="457200" lvl="1" indent="0">
              <a:buNone/>
            </a:pPr>
            <a:r>
              <a:rPr lang="ru-RU" dirty="0"/>
              <a:t>Прошедшие лекции:</a:t>
            </a:r>
          </a:p>
          <a:p>
            <a:pPr lvl="1">
              <a:buFontTx/>
              <a:buChar char="-"/>
            </a:pPr>
            <a:r>
              <a:rPr lang="ru-RU" dirty="0"/>
              <a:t>Чей ты друг и кто за тебя впишется? Анализ социальных сетей и РИ (</a:t>
            </a:r>
            <a:r>
              <a:rPr lang="ru-RU" dirty="0" err="1"/>
              <a:t>Комкон</a:t>
            </a:r>
            <a:r>
              <a:rPr lang="ru-RU" dirty="0"/>
              <a:t> 2019) </a:t>
            </a:r>
          </a:p>
          <a:p>
            <a:pPr lvl="1">
              <a:buFontTx/>
              <a:buChar char="-"/>
            </a:pPr>
            <a:r>
              <a:rPr lang="ru-RU" dirty="0"/>
              <a:t>Социальные сети и РИ: кто ты, ролевик Петербурга? </a:t>
            </a:r>
            <a:r>
              <a:rPr lang="en-US" dirty="0"/>
              <a:t>(</a:t>
            </a:r>
            <a:r>
              <a:rPr lang="ru-RU" dirty="0"/>
              <a:t>БРЁ 2019) </a:t>
            </a:r>
          </a:p>
          <a:p>
            <a:pPr lvl="1">
              <a:buFontTx/>
              <a:buChar char="-"/>
            </a:pPr>
            <a:r>
              <a:rPr lang="ru-RU" dirty="0"/>
              <a:t>Ролевые сообщества Центрального региона (в разрезе) (</a:t>
            </a:r>
            <a:r>
              <a:rPr lang="ru-RU" dirty="0" err="1"/>
              <a:t>Комкон</a:t>
            </a:r>
            <a:r>
              <a:rPr lang="ru-RU" dirty="0"/>
              <a:t> 2020)</a:t>
            </a:r>
          </a:p>
          <a:p>
            <a:pPr lvl="1">
              <a:buFontTx/>
              <a:buChar char="-"/>
            </a:pPr>
            <a:endParaRPr lang="ru-RU" dirty="0"/>
          </a:p>
          <a:p>
            <a:pPr lvl="1">
              <a:buFontTx/>
              <a:buChar char="-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06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18460F-82CE-CFBB-D9CE-E5AA10F51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 чем будем говорить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8AF5A5-5EA5-00F7-22FE-B60FAD67A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ru-RU" dirty="0"/>
              <a:t>Источники данных</a:t>
            </a:r>
          </a:p>
          <a:p>
            <a:pPr marL="514350" indent="-514350">
              <a:buAutoNum type="arabicPeriod"/>
            </a:pPr>
            <a:r>
              <a:rPr lang="ru-RU" dirty="0"/>
              <a:t>Критика этих источников</a:t>
            </a:r>
          </a:p>
          <a:p>
            <a:pPr marL="514350" indent="-514350">
              <a:buAutoNum type="arabicPeriod"/>
            </a:pPr>
            <a:r>
              <a:rPr lang="ru-RU" dirty="0"/>
              <a:t>Динамика заявленных-отмененных-проведенных игр</a:t>
            </a:r>
          </a:p>
          <a:p>
            <a:pPr marL="514350" indent="-514350">
              <a:buAutoNum type="arabicPeriod"/>
            </a:pPr>
            <a:r>
              <a:rPr lang="ru-RU" dirty="0"/>
              <a:t>Как ведут себя игроки и мастера при подготовке к игре</a:t>
            </a:r>
          </a:p>
        </p:txBody>
      </p:sp>
    </p:spTree>
    <p:extLst>
      <p:ext uri="{BB962C8B-B14F-4D97-AF65-F5344CB8AC3E}">
        <p14:creationId xmlns:p14="http://schemas.microsoft.com/office/powerpoint/2010/main" val="814556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67C9B6-68C5-1A09-D5A3-3200CA6C1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Источники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0921F3-FB94-017D-0360-A7A2BC803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kogda-igra.ru</a:t>
            </a:r>
            <a:endParaRPr lang="ru-RU" dirty="0"/>
          </a:p>
          <a:p>
            <a:pPr lvl="1"/>
            <a:r>
              <a:rPr lang="ru-RU" dirty="0"/>
              <a:t>Просто большая таблица с календарем игр</a:t>
            </a:r>
          </a:p>
          <a:p>
            <a:pPr lvl="1"/>
            <a:endParaRPr lang="en-US" dirty="0"/>
          </a:p>
          <a:p>
            <a:r>
              <a:rPr lang="en-US" dirty="0"/>
              <a:t>joinrpg.ru</a:t>
            </a:r>
            <a:endParaRPr lang="ru-RU" dirty="0"/>
          </a:p>
          <a:p>
            <a:pPr lvl="1"/>
            <a:r>
              <a:rPr lang="ru-RU" dirty="0"/>
              <a:t>База заявок</a:t>
            </a:r>
            <a:endParaRPr lang="en-US" dirty="0"/>
          </a:p>
          <a:p>
            <a:pPr lvl="1"/>
            <a:r>
              <a:rPr lang="ru-RU" dirty="0" err="1"/>
              <a:t>Яндекс.Метрика</a:t>
            </a:r>
            <a:endParaRPr lang="ru-RU" dirty="0"/>
          </a:p>
          <a:p>
            <a:pPr lvl="1"/>
            <a:r>
              <a:rPr lang="en-US" dirty="0" err="1"/>
              <a:t>DataLens</a:t>
            </a:r>
            <a:endParaRPr lang="ru-RU" dirty="0"/>
          </a:p>
          <a:p>
            <a:pPr lvl="1"/>
            <a:r>
              <a:rPr lang="en-US" dirty="0" err="1"/>
              <a:t>Mailgun</a:t>
            </a:r>
            <a:r>
              <a:rPr lang="ru-RU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66224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BB7B22-A0A9-74C8-5342-DB65A4F83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 стоит возводить статистику в абсолют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678FFB5-B822-7D0F-14C4-9634592758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270" y="1903501"/>
            <a:ext cx="8385459" cy="4954499"/>
          </a:xfrm>
        </p:spPr>
      </p:pic>
    </p:spTree>
    <p:extLst>
      <p:ext uri="{BB962C8B-B14F-4D97-AF65-F5344CB8AC3E}">
        <p14:creationId xmlns:p14="http://schemas.microsoft.com/office/powerpoint/2010/main" val="4058188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BB7B22-A0A9-74C8-5342-DB65A4F83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После не значит вследствие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7D1C74B-35AB-8B0C-933B-58EE439A3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5008" y="1784683"/>
            <a:ext cx="7368263" cy="4789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834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BB7B22-A0A9-74C8-5342-DB65A4F83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…но я буду спекулировать ради фана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C5F68C8-BAA8-9F29-5A7B-6B099CBD76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419" y="1690688"/>
            <a:ext cx="9186332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384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BB7B22-A0A9-74C8-5342-DB65A4F83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 стоит возводить статистику в абсолют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E1507A-C011-4720-72CB-70F1A8E8A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kogda-igra.ru</a:t>
            </a:r>
            <a:endParaRPr lang="ru-RU" dirty="0"/>
          </a:p>
          <a:p>
            <a:pPr lvl="1"/>
            <a:r>
              <a:rPr lang="ru-RU" dirty="0"/>
              <a:t>Зависит от работы редакторов</a:t>
            </a:r>
          </a:p>
          <a:p>
            <a:pPr lvl="1"/>
            <a:r>
              <a:rPr lang="ru-RU" dirty="0"/>
              <a:t>Больше игр — не значит, больше игроков</a:t>
            </a:r>
          </a:p>
          <a:p>
            <a:pPr lvl="1"/>
            <a:r>
              <a:rPr lang="ru-RU" dirty="0"/>
              <a:t>И наоборот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419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BB7B22-A0A9-74C8-5342-DB65A4F83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 стоит возводить статистику в абсолют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E1507A-C011-4720-72CB-70F1A8E8A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joinrpg.ru</a:t>
            </a:r>
          </a:p>
          <a:p>
            <a:pPr lvl="1"/>
            <a:r>
              <a:rPr lang="ru-RU" dirty="0"/>
              <a:t>Не все проекты пользуются базой заявок</a:t>
            </a:r>
          </a:p>
          <a:p>
            <a:pPr lvl="1"/>
            <a:r>
              <a:rPr lang="ru-RU" dirty="0"/>
              <a:t>Вообще не все проекты пользуются базами заявок</a:t>
            </a:r>
          </a:p>
          <a:p>
            <a:pPr lvl="1"/>
            <a:r>
              <a:rPr lang="ru-RU" dirty="0"/>
              <a:t>Формат работы среди МГ может отличаться очень сильно</a:t>
            </a:r>
          </a:p>
        </p:txBody>
      </p:sp>
    </p:spTree>
    <p:extLst>
      <p:ext uri="{BB962C8B-B14F-4D97-AF65-F5344CB8AC3E}">
        <p14:creationId xmlns:p14="http://schemas.microsoft.com/office/powerpoint/2010/main" val="349908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0E93E8-3CC2-8500-A5E8-0A027305F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Стало ли ролевых игр меньше?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35FB3CC-A68C-C60F-6940-0F3378BA4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438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86BB145-3531-487E-5ADB-DB899C146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585" y="1584964"/>
            <a:ext cx="11582995" cy="5054860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A6D493A-53D7-3E1C-7D44-C99C73B52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Число заявленных игр на </a:t>
            </a:r>
            <a:r>
              <a:rPr lang="ru-RU" dirty="0" err="1"/>
              <a:t>КогдаИгра</a:t>
            </a:r>
            <a:r>
              <a:rPr lang="ru-RU" dirty="0"/>
              <a:t>	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54BB7FB-46A6-D3A9-B90C-69574ACC59DD}"/>
              </a:ext>
            </a:extLst>
          </p:cNvPr>
          <p:cNvSpPr/>
          <p:nvPr/>
        </p:nvSpPr>
        <p:spPr>
          <a:xfrm>
            <a:off x="10125777" y="1921695"/>
            <a:ext cx="1813522" cy="4522031"/>
          </a:xfrm>
          <a:prstGeom prst="roundRect">
            <a:avLst/>
          </a:prstGeom>
          <a:noFill/>
          <a:ln w="57150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B18485-4DF3-C841-2829-1407BC9F41E2}"/>
              </a:ext>
            </a:extLst>
          </p:cNvPr>
          <p:cNvSpPr txBox="1"/>
          <p:nvPr/>
        </p:nvSpPr>
        <p:spPr>
          <a:xfrm flipH="1">
            <a:off x="10325910" y="2474879"/>
            <a:ext cx="14132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accent6"/>
                </a:solidFill>
              </a:rPr>
              <a:t>2023</a:t>
            </a:r>
          </a:p>
        </p:txBody>
      </p:sp>
    </p:spTree>
    <p:extLst>
      <p:ext uri="{BB962C8B-B14F-4D97-AF65-F5344CB8AC3E}">
        <p14:creationId xmlns:p14="http://schemas.microsoft.com/office/powerpoint/2010/main" val="2507217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548B49B-D256-0BCC-E06E-C9A370241C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91"/>
          <a:stretch/>
        </p:blipFill>
        <p:spPr>
          <a:xfrm>
            <a:off x="314028" y="1565559"/>
            <a:ext cx="11563944" cy="5085344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A6D493A-53D7-3E1C-7D44-C99C73B52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Число НЕ </a:t>
            </a:r>
            <a:r>
              <a:rPr lang="ru-RU" dirty="0"/>
              <a:t>отмененных игр из заявленных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54BB7FB-46A6-D3A9-B90C-69574ACC59DD}"/>
              </a:ext>
            </a:extLst>
          </p:cNvPr>
          <p:cNvSpPr/>
          <p:nvPr/>
        </p:nvSpPr>
        <p:spPr>
          <a:xfrm>
            <a:off x="10006220" y="1933173"/>
            <a:ext cx="1813522" cy="4522031"/>
          </a:xfrm>
          <a:prstGeom prst="roundRect">
            <a:avLst/>
          </a:prstGeom>
          <a:noFill/>
          <a:ln w="57150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B18485-4DF3-C841-2829-1407BC9F41E2}"/>
              </a:ext>
            </a:extLst>
          </p:cNvPr>
          <p:cNvSpPr txBox="1"/>
          <p:nvPr/>
        </p:nvSpPr>
        <p:spPr>
          <a:xfrm flipH="1">
            <a:off x="10206353" y="2486357"/>
            <a:ext cx="14132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accent6"/>
                </a:solidFill>
              </a:rPr>
              <a:t>2023</a:t>
            </a:r>
          </a:p>
        </p:txBody>
      </p:sp>
    </p:spTree>
    <p:extLst>
      <p:ext uri="{BB962C8B-B14F-4D97-AF65-F5344CB8AC3E}">
        <p14:creationId xmlns:p14="http://schemas.microsoft.com/office/powerpoint/2010/main" val="2439852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37EAB1E-14E1-6772-7FD4-19949929F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02" y="1561179"/>
            <a:ext cx="11487740" cy="5112013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A6D493A-53D7-3E1C-7D44-C99C73B52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Число </a:t>
            </a:r>
            <a:r>
              <a:rPr lang="ru-RU" b="1" dirty="0"/>
              <a:t>отмененных</a:t>
            </a:r>
            <a:r>
              <a:rPr lang="ru-RU" dirty="0"/>
              <a:t> игр из заявленных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54BB7FB-46A6-D3A9-B90C-69574ACC59DD}"/>
              </a:ext>
            </a:extLst>
          </p:cNvPr>
          <p:cNvSpPr/>
          <p:nvPr/>
        </p:nvSpPr>
        <p:spPr>
          <a:xfrm>
            <a:off x="10406486" y="1933173"/>
            <a:ext cx="1413256" cy="4522031"/>
          </a:xfrm>
          <a:prstGeom prst="roundRect">
            <a:avLst/>
          </a:prstGeom>
          <a:noFill/>
          <a:ln w="57150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B18485-4DF3-C841-2829-1407BC9F41E2}"/>
              </a:ext>
            </a:extLst>
          </p:cNvPr>
          <p:cNvSpPr txBox="1"/>
          <p:nvPr/>
        </p:nvSpPr>
        <p:spPr>
          <a:xfrm flipH="1">
            <a:off x="10406487" y="2495982"/>
            <a:ext cx="14132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accent6"/>
                </a:solidFill>
              </a:rPr>
              <a:t>2023</a:t>
            </a:r>
          </a:p>
        </p:txBody>
      </p:sp>
    </p:spTree>
    <p:extLst>
      <p:ext uri="{BB962C8B-B14F-4D97-AF65-F5344CB8AC3E}">
        <p14:creationId xmlns:p14="http://schemas.microsoft.com/office/powerpoint/2010/main" val="1331805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BB7B22-A0A9-74C8-5342-DB65A4F83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Общая статистика </a:t>
            </a:r>
            <a:r>
              <a:rPr lang="en-US" dirty="0" err="1"/>
              <a:t>joinrpg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E1507A-C011-4720-72CB-70F1A8E8A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Работает с 2015 года</a:t>
            </a:r>
          </a:p>
          <a:p>
            <a:r>
              <a:rPr lang="ru-RU" dirty="0"/>
              <a:t>Первый проект — «Стимпанк: Век Разума»</a:t>
            </a:r>
          </a:p>
          <a:p>
            <a:r>
              <a:rPr lang="ru-RU" dirty="0"/>
              <a:t>609 «проектов с заявками» за всё время</a:t>
            </a:r>
          </a:p>
        </p:txBody>
      </p:sp>
    </p:spTree>
    <p:extLst>
      <p:ext uri="{BB962C8B-B14F-4D97-AF65-F5344CB8AC3E}">
        <p14:creationId xmlns:p14="http://schemas.microsoft.com/office/powerpoint/2010/main" val="3027944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BB7B22-A0A9-74C8-5342-DB65A4F83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Общая статистика </a:t>
            </a:r>
            <a:r>
              <a:rPr lang="en-US" dirty="0" err="1"/>
              <a:t>joinrpg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0AD0DDD-DC93-30E8-819B-66B41F373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35" y="1569119"/>
            <a:ext cx="11259129" cy="486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156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BB7B22-A0A9-74C8-5342-DB65A4F83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Активность игроков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68899AB-77FB-C1BE-87B2-F22A08022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10" y="1962286"/>
            <a:ext cx="5991060" cy="445994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105D9AA-66F4-4C5A-58B7-151488656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911" y="1819175"/>
            <a:ext cx="5986301" cy="4603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938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0BE50A-B8FC-BDE8-ADF2-A151F0C9D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Интересны ли игры игрокам?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E2749FF-646E-20FC-B9E5-12277122A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348" y="1459036"/>
            <a:ext cx="6940190" cy="5278647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915EE5A-2D5B-8CA4-EBFF-60B19925A3D7}"/>
              </a:ext>
            </a:extLst>
          </p:cNvPr>
          <p:cNvCxnSpPr/>
          <p:nvPr/>
        </p:nvCxnSpPr>
        <p:spPr>
          <a:xfrm flipV="1">
            <a:off x="3060834" y="2069432"/>
            <a:ext cx="5977288" cy="366722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9B7EB08-F69F-5CE4-359B-27DFFBBC9049}"/>
              </a:ext>
            </a:extLst>
          </p:cNvPr>
          <p:cNvSpPr txBox="1"/>
          <p:nvPr/>
        </p:nvSpPr>
        <p:spPr>
          <a:xfrm>
            <a:off x="3235212" y="2653939"/>
            <a:ext cx="25172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выше линии — заявок больше, чем ролей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653F9A-BD66-FE37-6908-BEF3861591AF}"/>
              </a:ext>
            </a:extLst>
          </p:cNvPr>
          <p:cNvSpPr txBox="1"/>
          <p:nvPr/>
        </p:nvSpPr>
        <p:spPr>
          <a:xfrm>
            <a:off x="6438821" y="4736280"/>
            <a:ext cx="25172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ниже линии — заявок меньше, чем ролей</a:t>
            </a:r>
            <a:br>
              <a:rPr lang="ru-RU" dirty="0"/>
            </a:br>
            <a:r>
              <a:rPr lang="ru-RU" dirty="0">
                <a:sym typeface="Wingdings" panose="05000000000000000000" pitchFamily="2" charset="2"/>
              </a:rPr>
              <a:t>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9576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2AB6DF-00B6-299D-BABC-E5293ADF4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Усредненная статистика по проектам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B958243F-7FD5-42BB-74DF-8016496560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6076535"/>
              </p:ext>
            </p:extLst>
          </p:nvPr>
        </p:nvGraphicFramePr>
        <p:xfrm>
          <a:off x="1280160" y="1732546"/>
          <a:ext cx="9865896" cy="4177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1627">
                  <a:extLst>
                    <a:ext uri="{9D8B030D-6E8A-4147-A177-3AD203B41FA5}">
                      <a16:colId xmlns:a16="http://schemas.microsoft.com/office/drawing/2014/main" val="3281513343"/>
                    </a:ext>
                  </a:extLst>
                </a:gridCol>
                <a:gridCol w="2556242">
                  <a:extLst>
                    <a:ext uri="{9D8B030D-6E8A-4147-A177-3AD203B41FA5}">
                      <a16:colId xmlns:a16="http://schemas.microsoft.com/office/drawing/2014/main" val="1305331725"/>
                    </a:ext>
                  </a:extLst>
                </a:gridCol>
                <a:gridCol w="3200859">
                  <a:extLst>
                    <a:ext uri="{9D8B030D-6E8A-4147-A177-3AD203B41FA5}">
                      <a16:colId xmlns:a16="http://schemas.microsoft.com/office/drawing/2014/main" val="3814558386"/>
                    </a:ext>
                  </a:extLst>
                </a:gridCol>
                <a:gridCol w="1867168">
                  <a:extLst>
                    <a:ext uri="{9D8B030D-6E8A-4147-A177-3AD203B41FA5}">
                      <a16:colId xmlns:a16="http://schemas.microsoft.com/office/drawing/2014/main" val="1470508817"/>
                    </a:ext>
                  </a:extLst>
                </a:gridCol>
              </a:tblGrid>
              <a:tr h="54764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год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Среднее число заявок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Среднее число ролей в сетке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Пропорция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8971791"/>
                  </a:ext>
                </a:extLst>
              </a:tr>
              <a:tr h="51853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2016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1,13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60755163"/>
                  </a:ext>
                </a:extLst>
              </a:tr>
              <a:tr h="51853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2017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1,19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21212328"/>
                  </a:ext>
                </a:extLst>
              </a:tr>
              <a:tr h="51853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2018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1,00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41443282"/>
                  </a:ext>
                </a:extLst>
              </a:tr>
              <a:tr h="51853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2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2019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1,13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540499181"/>
                  </a:ext>
                </a:extLst>
              </a:tr>
              <a:tr h="51853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2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1,19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06724536"/>
                  </a:ext>
                </a:extLst>
              </a:tr>
              <a:tr h="51853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2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1,25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10704854"/>
                  </a:ext>
                </a:extLst>
              </a:tr>
              <a:tr h="51853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24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1,12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93804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9829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EC27B03-B59D-9350-516B-0AE6060B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43" y="2309162"/>
            <a:ext cx="11836031" cy="454883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C42BAB-6142-3841-5F00-DA875F34A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/>
              <a:t>Активность пользователей </a:t>
            </a:r>
            <a:r>
              <a:rPr lang="en-US" dirty="0" err="1"/>
              <a:t>joinrpg</a:t>
            </a:r>
            <a:r>
              <a:rPr lang="en-US" dirty="0"/>
              <a:t> </a:t>
            </a:r>
            <a:br>
              <a:rPr lang="ru-RU" dirty="0"/>
            </a:br>
            <a:r>
              <a:rPr lang="en-US" dirty="0"/>
              <a:t>2021 vs </a:t>
            </a:r>
            <a:r>
              <a:rPr lang="ru-RU" dirty="0"/>
              <a:t>2022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8DF2C2C-EBA4-7852-303E-7D149F31EE7B}"/>
              </a:ext>
            </a:extLst>
          </p:cNvPr>
          <p:cNvSpPr/>
          <p:nvPr/>
        </p:nvSpPr>
        <p:spPr>
          <a:xfrm>
            <a:off x="2242686" y="2843000"/>
            <a:ext cx="1953929" cy="3567614"/>
          </a:xfrm>
          <a:prstGeom prst="round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130444-C562-94CF-95E5-8E5B9EB004C2}"/>
              </a:ext>
            </a:extLst>
          </p:cNvPr>
          <p:cNvSpPr txBox="1"/>
          <p:nvPr/>
        </p:nvSpPr>
        <p:spPr>
          <a:xfrm rot="1943606" flipH="1">
            <a:off x="2069430" y="3615861"/>
            <a:ext cx="2502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Тут мы все приуныли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447045D-06A6-80CE-2EB9-905A7ED6D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117" y="1784557"/>
            <a:ext cx="349268" cy="19686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AED8A32-ACEA-79BB-668B-B21ACB378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826" y="2013854"/>
            <a:ext cx="361969" cy="1968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5BD2EE4-D271-7303-1A51-94135D58DB4D}"/>
              </a:ext>
            </a:extLst>
          </p:cNvPr>
          <p:cNvSpPr txBox="1"/>
          <p:nvPr/>
        </p:nvSpPr>
        <p:spPr>
          <a:xfrm>
            <a:off x="1756385" y="1690688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2021</a:t>
            </a:r>
          </a:p>
          <a:p>
            <a:r>
              <a:rPr lang="ru-RU" dirty="0"/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159451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0E93E8-3CC2-8500-A5E8-0A027305F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Средний ролевик 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35FB3CC-A68C-C60F-6940-0F3378BA4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7547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CDA2A71-A1E0-BAEA-1161-79299B591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98743" cy="1325563"/>
          </a:xfrm>
        </p:spPr>
        <p:txBody>
          <a:bodyPr/>
          <a:lstStyle/>
          <a:p>
            <a:r>
              <a:rPr lang="ru-RU" dirty="0"/>
              <a:t>Среднему ролевику 25-34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B51B18B-BD43-4788-1CDF-ED102B96F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466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095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C42BAB-6142-3841-5F00-DA875F34A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Чаще девочки, чем мальчики </a:t>
            </a:r>
            <a:br>
              <a:rPr lang="ru-RU" dirty="0"/>
            </a:br>
            <a:r>
              <a:rPr lang="ru-RU" dirty="0"/>
              <a:t>                                                   (кроме сезона!)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0328148-ADC9-8BFB-A013-D0995F181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25" y="1948727"/>
            <a:ext cx="11662829" cy="4105134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8DF2C2C-EBA4-7852-303E-7D149F31EE7B}"/>
              </a:ext>
            </a:extLst>
          </p:cNvPr>
          <p:cNvSpPr/>
          <p:nvPr/>
        </p:nvSpPr>
        <p:spPr>
          <a:xfrm>
            <a:off x="5409398" y="1948727"/>
            <a:ext cx="2175309" cy="3773103"/>
          </a:xfrm>
          <a:prstGeom prst="round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130444-C562-94CF-95E5-8E5B9EB004C2}"/>
              </a:ext>
            </a:extLst>
          </p:cNvPr>
          <p:cNvSpPr txBox="1"/>
          <p:nvPr/>
        </p:nvSpPr>
        <p:spPr>
          <a:xfrm flipH="1">
            <a:off x="5745709" y="4765664"/>
            <a:ext cx="1695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июнь и июль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447045D-06A6-80CE-2EB9-905A7ED6D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991" y="1374766"/>
            <a:ext cx="349268" cy="19686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AED8A32-ACEA-79BB-668B-B21ACB378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700" y="1604063"/>
            <a:ext cx="361969" cy="1968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5BD2EE4-D271-7303-1A51-94135D58DB4D}"/>
              </a:ext>
            </a:extLst>
          </p:cNvPr>
          <p:cNvSpPr txBox="1"/>
          <p:nvPr/>
        </p:nvSpPr>
        <p:spPr>
          <a:xfrm>
            <a:off x="1708259" y="1280897"/>
            <a:ext cx="11432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девочки</a:t>
            </a:r>
          </a:p>
          <a:p>
            <a:r>
              <a:rPr lang="ru-RU" dirty="0"/>
              <a:t>мальчики</a:t>
            </a:r>
          </a:p>
        </p:txBody>
      </p:sp>
    </p:spTree>
    <p:extLst>
      <p:ext uri="{BB962C8B-B14F-4D97-AF65-F5344CB8AC3E}">
        <p14:creationId xmlns:p14="http://schemas.microsoft.com/office/powerpoint/2010/main" val="17717959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CDA2A71-A1E0-BAEA-1161-79299B591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98743" cy="1325563"/>
          </a:xfrm>
        </p:spPr>
        <p:txBody>
          <a:bodyPr/>
          <a:lstStyle/>
          <a:p>
            <a:r>
              <a:rPr lang="ru-RU" dirty="0"/>
              <a:t>Что он спросил у Яндекса, чтобы найти нас?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E1D3AA-8CF8-600D-1423-AF3F8E081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6784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26711EC-A917-2743-0C28-2AC97AD3F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7637"/>
            <a:ext cx="12192000" cy="8593666"/>
          </a:xfrm>
          <a:prstGeom prst="rect">
            <a:avLst/>
          </a:prstGeom>
        </p:spPr>
      </p:pic>
      <p:sp>
        <p:nvSpPr>
          <p:cNvPr id="5" name="Объект 4">
            <a:extLst>
              <a:ext uri="{FF2B5EF4-FFF2-40B4-BE49-F238E27FC236}">
                <a16:creationId xmlns:a16="http://schemas.microsoft.com/office/drawing/2014/main" id="{DDBF9D7F-8ECD-7CD5-FAAD-A0558B31E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342" y="5758180"/>
            <a:ext cx="10515600" cy="734695"/>
          </a:xfrm>
          <a:solidFill>
            <a:schemeClr val="bg1"/>
          </a:solidFill>
        </p:spPr>
        <p:txBody>
          <a:bodyPr/>
          <a:lstStyle/>
          <a:p>
            <a:pPr marL="0" indent="0" algn="ctr">
              <a:buNone/>
            </a:pPr>
            <a:r>
              <a:rPr lang="ru-RU" b="1" dirty="0"/>
              <a:t>магистр дьявольского культа</a:t>
            </a:r>
          </a:p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90BC307-731C-9236-C954-6AECF6EC1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1433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B9C45EF6-E1D9-3ED7-46D0-05030B0495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07678" y="2052595"/>
            <a:ext cx="3932237" cy="3811588"/>
          </a:xfrm>
        </p:spPr>
        <p:txBody>
          <a:bodyPr>
            <a:normAutofit/>
          </a:bodyPr>
          <a:lstStyle/>
          <a:p>
            <a:endParaRPr lang="ru-RU" sz="2800" dirty="0"/>
          </a:p>
          <a:p>
            <a:r>
              <a:rPr lang="ru-RU" sz="2800" dirty="0"/>
              <a:t>Казалось бы, всё просто.</a:t>
            </a:r>
          </a:p>
          <a:p>
            <a:endParaRPr lang="ru-RU" sz="2800" dirty="0"/>
          </a:p>
          <a:p>
            <a:r>
              <a:rPr lang="ru-RU" sz="2800" dirty="0"/>
              <a:t>Но есть нюанс!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4D57ED5-322E-3B1A-49CF-62116A2901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66942" y="1741909"/>
            <a:ext cx="4262414" cy="468956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FA4C6EB-50B6-ACD6-AF40-8BED0A287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97" y="418962"/>
            <a:ext cx="11229805" cy="132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226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CDA2A71-A1E0-BAEA-1161-79299B591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98743" cy="1325563"/>
          </a:xfrm>
        </p:spPr>
        <p:txBody>
          <a:bodyPr/>
          <a:lstStyle/>
          <a:p>
            <a:r>
              <a:rPr lang="ru-RU" dirty="0"/>
              <a:t>Телефон — для времени игры.</a:t>
            </a:r>
            <a:br>
              <a:rPr lang="ru-RU" dirty="0"/>
            </a:br>
            <a:r>
              <a:rPr lang="ru-RU" dirty="0"/>
              <a:t>Остальное время — больше ПК или паритет.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AC7443E-94D7-ABAB-76BE-D6292D544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35" y="2394908"/>
            <a:ext cx="10272055" cy="44192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8BC30C4-6676-9A16-9E26-7C7E6F952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9898" y="2394909"/>
            <a:ext cx="1684419" cy="1059384"/>
          </a:xfrm>
          <a:prstGeom prst="rect">
            <a:avLst/>
          </a:prstGeom>
        </p:spPr>
      </p:pic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25B9A3FD-7A8F-29DD-7E7C-F40E0C807844}"/>
              </a:ext>
            </a:extLst>
          </p:cNvPr>
          <p:cNvSpPr/>
          <p:nvPr/>
        </p:nvSpPr>
        <p:spPr>
          <a:xfrm>
            <a:off x="4138863" y="2598821"/>
            <a:ext cx="3416969" cy="3773103"/>
          </a:xfrm>
          <a:prstGeom prst="round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132644-5570-DF38-03EC-1E5AB9C84E21}"/>
              </a:ext>
            </a:extLst>
          </p:cNvPr>
          <p:cNvSpPr txBox="1"/>
          <p:nvPr/>
        </p:nvSpPr>
        <p:spPr>
          <a:xfrm flipH="1">
            <a:off x="4954603" y="2739935"/>
            <a:ext cx="1920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игровой сезон</a:t>
            </a:r>
          </a:p>
        </p:txBody>
      </p:sp>
    </p:spTree>
    <p:extLst>
      <p:ext uri="{BB962C8B-B14F-4D97-AF65-F5344CB8AC3E}">
        <p14:creationId xmlns:p14="http://schemas.microsoft.com/office/powerpoint/2010/main" val="1353821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0E93E8-3CC2-8500-A5E8-0A027305F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ведут себя пользователи?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35FB3CC-A68C-C60F-6940-0F3378BA4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42278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8EFDBCE-AA4B-8FAF-F806-155897DC6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Откуда открывают свою (чужую) заявку?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AAF502F-C345-0BB4-F6F7-840A38FEB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286" y="2019373"/>
            <a:ext cx="5487524" cy="408961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A21251A-7CAD-9DE7-6497-1FADA6A17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844" y="1927450"/>
            <a:ext cx="3406072" cy="3003100"/>
          </a:xfrm>
          <a:prstGeom prst="rect">
            <a:avLst/>
          </a:prstGeom>
        </p:spPr>
      </p:pic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9788AA7-800B-949C-898D-3DB115B32B38}"/>
              </a:ext>
            </a:extLst>
          </p:cNvPr>
          <p:cNvCxnSpPr/>
          <p:nvPr/>
        </p:nvCxnSpPr>
        <p:spPr>
          <a:xfrm>
            <a:off x="6096000" y="3724977"/>
            <a:ext cx="41067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AC677AC7-B5AF-289F-5462-4EA09F38045D}"/>
              </a:ext>
            </a:extLst>
          </p:cNvPr>
          <p:cNvCxnSpPr/>
          <p:nvPr/>
        </p:nvCxnSpPr>
        <p:spPr>
          <a:xfrm flipH="1">
            <a:off x="5149516" y="3724977"/>
            <a:ext cx="946484" cy="33688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DB96CA24-A3BB-A9BC-CFA5-BF24E48E528A}"/>
              </a:ext>
            </a:extLst>
          </p:cNvPr>
          <p:cNvCxnSpPr>
            <a:cxnSpLocks/>
          </p:cNvCxnSpPr>
          <p:nvPr/>
        </p:nvCxnSpPr>
        <p:spPr>
          <a:xfrm flipH="1">
            <a:off x="2125579" y="5361272"/>
            <a:ext cx="848627" cy="46040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D6D029B8-97AD-2516-58E3-C09A3C115BEE}"/>
              </a:ext>
            </a:extLst>
          </p:cNvPr>
          <p:cNvCxnSpPr>
            <a:cxnSpLocks/>
          </p:cNvCxnSpPr>
          <p:nvPr/>
        </p:nvCxnSpPr>
        <p:spPr>
          <a:xfrm flipH="1" flipV="1">
            <a:off x="1990825" y="2731971"/>
            <a:ext cx="983381" cy="3577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49155645-0700-D480-B1FE-4F6C189FE2F8}"/>
              </a:ext>
            </a:extLst>
          </p:cNvPr>
          <p:cNvCxnSpPr/>
          <p:nvPr/>
        </p:nvCxnSpPr>
        <p:spPr>
          <a:xfrm>
            <a:off x="1714901" y="5820076"/>
            <a:ext cx="41067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E440A195-F138-A519-9FC9-0BA28B2FC738}"/>
              </a:ext>
            </a:extLst>
          </p:cNvPr>
          <p:cNvCxnSpPr/>
          <p:nvPr/>
        </p:nvCxnSpPr>
        <p:spPr>
          <a:xfrm>
            <a:off x="1580147" y="2731971"/>
            <a:ext cx="41067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4299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8EFDBCE-AA4B-8FAF-F806-155897DC6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Откуда открывают свою (чужую) заявку?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4B4A4CA-E985-75E5-FDF4-FA286BD20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14" y="1886381"/>
            <a:ext cx="12065886" cy="4693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6815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5E412ED-BA95-A688-FF99-35FBFADBC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Интерлюдия. 	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3F15EC1-05C9-0727-C43A-363388705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Байка про работящих девочек и амбициозных мальчиков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A9769F7-7FD5-4308-3465-F4C57F03E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680" y="403642"/>
            <a:ext cx="4032640" cy="343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0602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8EFDBCE-AA4B-8FAF-F806-155897DC6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Среднее время на сайте</a:t>
            </a:r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id="{102B6377-B2FF-F9DC-B07C-6C312C6AE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4 минуты 33 секунды в среднем</a:t>
            </a:r>
          </a:p>
          <a:p>
            <a:pPr marL="0" indent="0">
              <a:buNone/>
            </a:pPr>
            <a:endParaRPr lang="ru-RU" dirty="0"/>
          </a:p>
          <a:p>
            <a:pPr lvl="1"/>
            <a:r>
              <a:rPr lang="ru-RU" dirty="0"/>
              <a:t>Амбициозные мальчики — 4 минуты 24 секунды</a:t>
            </a:r>
          </a:p>
          <a:p>
            <a:pPr lvl="1"/>
            <a:r>
              <a:rPr lang="ru-RU" b="1" dirty="0"/>
              <a:t>Работящие девочки — 4 минуты 58 секунд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EC70519-8266-CF55-DD88-014704BAB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581" y="3869355"/>
            <a:ext cx="60960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5090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8EFDBCE-AA4B-8FAF-F806-155897DC6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975" y="444599"/>
            <a:ext cx="11443637" cy="1325563"/>
          </a:xfrm>
        </p:spPr>
        <p:txBody>
          <a:bodyPr/>
          <a:lstStyle/>
          <a:p>
            <a:r>
              <a:rPr lang="en-US" dirty="0"/>
              <a:t>«</a:t>
            </a:r>
            <a:r>
              <a:rPr lang="ru-RU" dirty="0"/>
              <a:t>Пики мужского внимания»: особенность 2022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2EDCB10-F018-F0C7-8AA9-8C07EFEF52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241"/>
          <a:stretch/>
        </p:blipFill>
        <p:spPr>
          <a:xfrm>
            <a:off x="190144" y="2396690"/>
            <a:ext cx="11857301" cy="419196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89ECA51-7FFD-7768-4DAA-DB7DBC648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618" y="1755699"/>
            <a:ext cx="349268" cy="19686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6A557B-C19F-3921-C748-416A59E4B2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0327" y="1984996"/>
            <a:ext cx="361969" cy="1968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D4029D0-D7B9-004C-2A72-E380D9E64673}"/>
              </a:ext>
            </a:extLst>
          </p:cNvPr>
          <p:cNvSpPr txBox="1"/>
          <p:nvPr/>
        </p:nvSpPr>
        <p:spPr>
          <a:xfrm>
            <a:off x="1794886" y="1661830"/>
            <a:ext cx="11432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девочки</a:t>
            </a:r>
          </a:p>
          <a:p>
            <a:r>
              <a:rPr lang="ru-RU" dirty="0"/>
              <a:t>мальчики</a:t>
            </a:r>
          </a:p>
        </p:txBody>
      </p:sp>
    </p:spTree>
    <p:extLst>
      <p:ext uri="{BB962C8B-B14F-4D97-AF65-F5344CB8AC3E}">
        <p14:creationId xmlns:p14="http://schemas.microsoft.com/office/powerpoint/2010/main" val="29621924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8EFDBCE-AA4B-8FAF-F806-155897DC6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363" y="303830"/>
            <a:ext cx="11443637" cy="1325563"/>
          </a:xfrm>
        </p:spPr>
        <p:txBody>
          <a:bodyPr/>
          <a:lstStyle/>
          <a:p>
            <a:r>
              <a:rPr lang="ru-RU" dirty="0"/>
              <a:t>2021 год: девочки тоже очень работящи!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89ECA51-7FFD-7768-4DAA-DB7DBC648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618" y="1755699"/>
            <a:ext cx="349268" cy="19686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6A557B-C19F-3921-C748-416A59E4B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327" y="1984996"/>
            <a:ext cx="361969" cy="1968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D4029D0-D7B9-004C-2A72-E380D9E64673}"/>
              </a:ext>
            </a:extLst>
          </p:cNvPr>
          <p:cNvSpPr txBox="1"/>
          <p:nvPr/>
        </p:nvSpPr>
        <p:spPr>
          <a:xfrm>
            <a:off x="1794886" y="1661830"/>
            <a:ext cx="11432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девочки</a:t>
            </a:r>
          </a:p>
          <a:p>
            <a:r>
              <a:rPr lang="ru-RU" dirty="0"/>
              <a:t>мальчики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F293D74-FD51-B781-829E-6223CA8400A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20"/>
          <a:stretch/>
        </p:blipFill>
        <p:spPr>
          <a:xfrm>
            <a:off x="396975" y="2869536"/>
            <a:ext cx="11630159" cy="4071812"/>
          </a:xfrm>
          <a:prstGeom prst="rect">
            <a:avLst/>
          </a:prstGeom>
        </p:spPr>
      </p:pic>
      <p:sp>
        <p:nvSpPr>
          <p:cNvPr id="14" name="Объект 1">
            <a:extLst>
              <a:ext uri="{FF2B5EF4-FFF2-40B4-BE49-F238E27FC236}">
                <a16:creationId xmlns:a16="http://schemas.microsoft.com/office/drawing/2014/main" id="{BD511B8E-DECC-72FD-3292-1B70A9A4D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669" y="1543973"/>
            <a:ext cx="7670533" cy="132556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5 минут 8 секунд в среднем</a:t>
            </a:r>
          </a:p>
          <a:p>
            <a:pPr lvl="1"/>
            <a:r>
              <a:rPr lang="ru-RU" dirty="0"/>
              <a:t>Амбициозные мальчики — 4 минуты 37 секунд</a:t>
            </a:r>
          </a:p>
          <a:p>
            <a:pPr lvl="1"/>
            <a:r>
              <a:rPr lang="ru-RU" b="1" dirty="0"/>
              <a:t>Работящие девочки — 5 минут 41 секунда</a:t>
            </a:r>
          </a:p>
        </p:txBody>
      </p:sp>
    </p:spTree>
    <p:extLst>
      <p:ext uri="{BB962C8B-B14F-4D97-AF65-F5344CB8AC3E}">
        <p14:creationId xmlns:p14="http://schemas.microsoft.com/office/powerpoint/2010/main" val="22236322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ADEED15-FBAE-BE55-7C40-411FB24DE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963" y="842168"/>
            <a:ext cx="10515600" cy="2852737"/>
          </a:xfrm>
        </p:spPr>
        <p:txBody>
          <a:bodyPr/>
          <a:lstStyle/>
          <a:p>
            <a:r>
              <a:rPr lang="ru-RU" dirty="0"/>
              <a:t>Что дальше?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839D989-227F-5DF0-4B4B-F111794941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5A3D23B-0BC3-6399-532F-25EF4B845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1156" y="0"/>
            <a:ext cx="67508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057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33764F9-78C8-C6BF-9524-A643F0976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joinrpg</a:t>
            </a:r>
            <a:r>
              <a:rPr lang="en-US" dirty="0"/>
              <a:t> + </a:t>
            </a:r>
            <a:r>
              <a:rPr lang="en-US" dirty="0" err="1"/>
              <a:t>kogda-igra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5F619D2-325A-7E16-E7B5-60A35402A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Пример </a:t>
            </a:r>
            <a:r>
              <a:rPr lang="ru-RU" sz="2400" dirty="0"/>
              <a:t>«Колеса Времени» — 2022 </a:t>
            </a:r>
          </a:p>
          <a:p>
            <a:r>
              <a:rPr lang="ru-RU" dirty="0"/>
              <a:t>Игра наша, какие данные хочу, такие и достаю</a:t>
            </a:r>
          </a:p>
          <a:p>
            <a:r>
              <a:rPr lang="ru-RU" dirty="0"/>
              <a:t>Одну игру обработать «вручную» реалистично</a:t>
            </a:r>
          </a:p>
        </p:txBody>
      </p:sp>
    </p:spTree>
    <p:extLst>
      <p:ext uri="{BB962C8B-B14F-4D97-AF65-F5344CB8AC3E}">
        <p14:creationId xmlns:p14="http://schemas.microsoft.com/office/powerpoint/2010/main" val="34139752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DD4D77-33B7-D08B-D866-591679706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17" y="0"/>
            <a:ext cx="10515600" cy="1325563"/>
          </a:xfrm>
        </p:spPr>
        <p:txBody>
          <a:bodyPr/>
          <a:lstStyle/>
          <a:p>
            <a:r>
              <a:rPr lang="ru-RU" dirty="0"/>
              <a:t>«Время жизни» заявки и паттерны работы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F247A7-51A5-A083-4866-FC927393B8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04" y="1296258"/>
            <a:ext cx="11691837" cy="556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5363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49974E-D050-CC60-CBFC-74D5B24E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Динамика «сливов» игроков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FE82A8F-2759-AD06-488E-D8D7F63569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39" y="2177822"/>
            <a:ext cx="4882523" cy="3238901"/>
          </a:xfr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0DF8CFB-A2C7-D540-E469-4B71FF6767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781" y="2731276"/>
            <a:ext cx="6044665" cy="31882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B50C9D-325C-0B8F-FEB6-1BB1192152F1}"/>
              </a:ext>
            </a:extLst>
          </p:cNvPr>
          <p:cNvSpPr txBox="1"/>
          <p:nvPr/>
        </p:nvSpPr>
        <p:spPr>
          <a:xfrm>
            <a:off x="554639" y="1690688"/>
            <a:ext cx="57008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За сколько дней написал мастерам, что сливается: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568BA7-CCE7-DA3E-D3E0-B502BF9E82BD}"/>
              </a:ext>
            </a:extLst>
          </p:cNvPr>
          <p:cNvSpPr txBox="1"/>
          <p:nvPr/>
        </p:nvSpPr>
        <p:spPr>
          <a:xfrm>
            <a:off x="6168232" y="2260961"/>
            <a:ext cx="53358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За сколько до игры подал заявку «слившийся»:</a:t>
            </a:r>
          </a:p>
        </p:txBody>
      </p:sp>
    </p:spTree>
    <p:extLst>
      <p:ext uri="{BB962C8B-B14F-4D97-AF65-F5344CB8AC3E}">
        <p14:creationId xmlns:p14="http://schemas.microsoft.com/office/powerpoint/2010/main" val="16547323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DD4D77-33B7-D08B-D866-591679706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17" y="0"/>
            <a:ext cx="10515600" cy="1325563"/>
          </a:xfrm>
        </p:spPr>
        <p:txBody>
          <a:bodyPr/>
          <a:lstStyle/>
          <a:p>
            <a:r>
              <a:rPr lang="ru-RU" dirty="0"/>
              <a:t>Обобщенный анализ бюджета игры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0340BB3-F28F-DE22-F0D2-5EBAF0BBA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980" y="1729388"/>
            <a:ext cx="11502039" cy="455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813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0508C64-4A5F-6F18-2328-4A31F0AE70FB}"/>
              </a:ext>
            </a:extLst>
          </p:cNvPr>
          <p:cNvSpPr txBox="1"/>
          <p:nvPr/>
        </p:nvSpPr>
        <p:spPr>
          <a:xfrm>
            <a:off x="7067327" y="4985542"/>
            <a:ext cx="46964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#</a:t>
            </a:r>
            <a:r>
              <a:rPr lang="ru-RU" sz="2400" dirty="0" err="1"/>
              <a:t>Атана</a:t>
            </a:r>
            <a:r>
              <a:rPr lang="ru-RU" sz="2400" dirty="0"/>
              <a:t> (Александра Царева)</a:t>
            </a:r>
          </a:p>
          <a:p>
            <a:pPr algn="r"/>
            <a:r>
              <a:rPr lang="en-US" sz="2400" dirty="0" err="1"/>
              <a:t>a_tsareva</a:t>
            </a:r>
            <a:endParaRPr lang="en-US" sz="2400" dirty="0"/>
          </a:p>
          <a:p>
            <a:pPr algn="r"/>
            <a:r>
              <a:rPr lang="en-US" sz="2400" dirty="0" err="1"/>
              <a:t>atsareva</a:t>
            </a:r>
            <a:endParaRPr lang="en-US" sz="2400" dirty="0"/>
          </a:p>
          <a:p>
            <a:pPr algn="r"/>
            <a:r>
              <a:rPr lang="en-US" sz="2400" dirty="0"/>
              <a:t>atana@bastilia.ru</a:t>
            </a:r>
            <a:endParaRPr lang="ru-RU" sz="24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BF608FE-DF92-54F1-8509-F81AE45EC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6076" y="5833134"/>
            <a:ext cx="252000" cy="2520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D311196-2280-61EE-1A2D-75E7B7AC8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9371" y="5485711"/>
            <a:ext cx="252000" cy="252000"/>
          </a:xfrm>
          <a:prstGeom prst="rect">
            <a:avLst/>
          </a:prstGeom>
        </p:spPr>
      </p:pic>
      <p:sp>
        <p:nvSpPr>
          <p:cNvPr id="15" name="Заголовок 14">
            <a:extLst>
              <a:ext uri="{FF2B5EF4-FFF2-40B4-BE49-F238E27FC236}">
                <a16:creationId xmlns:a16="http://schemas.microsoft.com/office/drawing/2014/main" id="{8BB6BBF7-E0C1-2EA5-2164-479382B14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помогавшим с подготовкой!</a:t>
            </a:r>
          </a:p>
        </p:txBody>
      </p:sp>
      <p:sp>
        <p:nvSpPr>
          <p:cNvPr id="16" name="Объект 15">
            <a:extLst>
              <a:ext uri="{FF2B5EF4-FFF2-40B4-BE49-F238E27FC236}">
                <a16:creationId xmlns:a16="http://schemas.microsoft.com/office/drawing/2014/main" id="{F1934B86-0D38-5C90-EE9D-6608FD0E4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779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u="sng" dirty="0">
                <a:solidFill>
                  <a:schemeClr val="accent1">
                    <a:lumMod val="75000"/>
                  </a:schemeClr>
                </a:solidFill>
              </a:rPr>
              <a:t>joinrpg.ru</a:t>
            </a:r>
            <a:r>
              <a:rPr lang="en-US" dirty="0"/>
              <a:t> — </a:t>
            </a:r>
            <a:r>
              <a:rPr lang="ru-RU" dirty="0"/>
              <a:t>база заявок на ролевые игры</a:t>
            </a:r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r>
              <a:rPr lang="en-US" u="sng" dirty="0">
                <a:solidFill>
                  <a:schemeClr val="accent1">
                    <a:lumMod val="75000"/>
                  </a:schemeClr>
                </a:solidFill>
              </a:rPr>
              <a:t>kogda-igra.ru</a:t>
            </a:r>
            <a:r>
              <a:rPr lang="en-US" dirty="0"/>
              <a:t> </a:t>
            </a:r>
            <a:r>
              <a:rPr lang="ru-RU" dirty="0"/>
              <a:t>— календарь ролевых игр и связанных мероприятий,</a:t>
            </a:r>
          </a:p>
          <a:p>
            <a:pPr marL="0" indent="0">
              <a:buNone/>
            </a:pPr>
            <a:r>
              <a:rPr lang="ru-RU" dirty="0"/>
              <a:t>		       в России и Республике Беларусь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EA97CEE-A4F0-0370-560A-CF18812887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63" y="4985542"/>
            <a:ext cx="1818373" cy="181837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0A4BEF9-045F-728B-B773-2E9792EA5625}"/>
              </a:ext>
            </a:extLst>
          </p:cNvPr>
          <p:cNvSpPr txBox="1"/>
          <p:nvPr/>
        </p:nvSpPr>
        <p:spPr>
          <a:xfrm>
            <a:off x="419100" y="4156134"/>
            <a:ext cx="2095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новости</a:t>
            </a:r>
          </a:p>
          <a:p>
            <a:pPr algn="ctr"/>
            <a:r>
              <a:rPr lang="en-US" sz="2400" dirty="0"/>
              <a:t>t.me/</a:t>
            </a:r>
            <a:r>
              <a:rPr lang="en-US" sz="2400" dirty="0" err="1"/>
              <a:t>joinrpg</a:t>
            </a:r>
            <a:r>
              <a:rPr lang="ru-RU" sz="2400" dirty="0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211E18-56F5-D4A1-82E1-40ED62F62060}"/>
              </a:ext>
            </a:extLst>
          </p:cNvPr>
          <p:cNvSpPr txBox="1"/>
          <p:nvPr/>
        </p:nvSpPr>
        <p:spPr>
          <a:xfrm>
            <a:off x="3132280" y="4087145"/>
            <a:ext cx="29304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бот для добавления в календарь</a:t>
            </a:r>
          </a:p>
          <a:p>
            <a:pPr algn="ctr"/>
            <a:r>
              <a:rPr lang="sv-SE" sz="2400" dirty="0"/>
              <a:t>t.me/kogda_igra_bot</a:t>
            </a:r>
            <a:endParaRPr lang="ru-RU" sz="2400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CB83D049-5371-8766-2CE6-258557D8E3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676" y="5357682"/>
            <a:ext cx="14097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0834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1519</TotalTime>
  <Words>628</Words>
  <Application>Microsoft Office PowerPoint</Application>
  <PresentationFormat>Широкоэкранный</PresentationFormat>
  <Paragraphs>151</Paragraphs>
  <Slides>39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3" baseType="lpstr">
      <vt:lpstr>Arial</vt:lpstr>
      <vt:lpstr>Calibri</vt:lpstr>
      <vt:lpstr>Calibri Light</vt:lpstr>
      <vt:lpstr>Тема Office</vt:lpstr>
      <vt:lpstr>Что мы можем узнать про ролевые игры из   и КогдаИгры</vt:lpstr>
      <vt:lpstr>О лекторе</vt:lpstr>
      <vt:lpstr>О чем будем говорить</vt:lpstr>
      <vt:lpstr>Источники данных</vt:lpstr>
      <vt:lpstr>Не стоит возводить статистику в абсолют</vt:lpstr>
      <vt:lpstr>После не значит вследствие</vt:lpstr>
      <vt:lpstr>…но я буду спекулировать ради фана</vt:lpstr>
      <vt:lpstr>Не стоит возводить статистику в абсолют</vt:lpstr>
      <vt:lpstr>Не стоит возводить статистику в абсолют</vt:lpstr>
      <vt:lpstr>Стало ли ролевых игр меньше?</vt:lpstr>
      <vt:lpstr>Число заявленных игр на КогдаИгра </vt:lpstr>
      <vt:lpstr>Число НЕ отмененных игр из заявленных</vt:lpstr>
      <vt:lpstr>Число отмененных игр из заявленных</vt:lpstr>
      <vt:lpstr>Общая статистика joinrpg</vt:lpstr>
      <vt:lpstr>Общая статистика joinrpg</vt:lpstr>
      <vt:lpstr>Активность игроков </vt:lpstr>
      <vt:lpstr>Интересны ли игры игрокам?</vt:lpstr>
      <vt:lpstr>Усредненная статистика по проектам</vt:lpstr>
      <vt:lpstr>Активность пользователей joinrpg  2021 vs 2022</vt:lpstr>
      <vt:lpstr>Средний ролевик </vt:lpstr>
      <vt:lpstr>Среднему ролевику 25-34</vt:lpstr>
      <vt:lpstr>Чаще девочки, чем мальчики                                                     (кроме сезона!)</vt:lpstr>
      <vt:lpstr>Что он спросил у Яндекса, чтобы найти нас?</vt:lpstr>
      <vt:lpstr>Презентация PowerPoint</vt:lpstr>
      <vt:lpstr>Презентация PowerPoint</vt:lpstr>
      <vt:lpstr>Телефон — для времени игры. Остальное время — больше ПК или паритет.</vt:lpstr>
      <vt:lpstr>Как ведут себя пользователи?</vt:lpstr>
      <vt:lpstr>Откуда открывают свою (чужую) заявку?</vt:lpstr>
      <vt:lpstr>Откуда открывают свою (чужую) заявку?</vt:lpstr>
      <vt:lpstr>Интерлюдия.  </vt:lpstr>
      <vt:lpstr>Среднее время на сайте</vt:lpstr>
      <vt:lpstr>«Пики мужского внимания»: особенность 2022</vt:lpstr>
      <vt:lpstr>2021 год: девочки тоже очень работящи!</vt:lpstr>
      <vt:lpstr>Что дальше?</vt:lpstr>
      <vt:lpstr>joinrpg + kogda-igra</vt:lpstr>
      <vt:lpstr>«Время жизни» заявки и паттерны работы</vt:lpstr>
      <vt:lpstr>Динамика «сливов» игроков</vt:lpstr>
      <vt:lpstr>Обобщенный анализ бюджета игры</vt:lpstr>
      <vt:lpstr>Спасибо помогавшим с подготовкой!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Tsareva Aleksandra</dc:creator>
  <cp:lastModifiedBy>Tsareva Aleksandra</cp:lastModifiedBy>
  <cp:revision>37</cp:revision>
  <dcterms:created xsi:type="dcterms:W3CDTF">2023-03-16T12:00:07Z</dcterms:created>
  <dcterms:modified xsi:type="dcterms:W3CDTF">2023-03-18T11:00:38Z</dcterms:modified>
</cp:coreProperties>
</file>